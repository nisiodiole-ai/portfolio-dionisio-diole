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219"/>
    <a:srgbClr val="A1A799"/>
    <a:srgbClr val="BFD1E7"/>
    <a:srgbClr val="1068D0"/>
    <a:srgbClr val="141311"/>
    <a:srgbClr val="D6071C"/>
    <a:srgbClr val="1B2F4A"/>
    <a:srgbClr val="2586DA"/>
    <a:srgbClr val="FF668A"/>
    <a:srgbClr val="B026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A85-CA3A-4595-8E81-9487B174C3E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BFBB-8F91-4215-A6C6-92117E933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51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A85-CA3A-4595-8E81-9487B174C3E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BFBB-8F91-4215-A6C6-92117E933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4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A85-CA3A-4595-8E81-9487B174C3E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BFBB-8F91-4215-A6C6-92117E933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01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A85-CA3A-4595-8E81-9487B174C3E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BFBB-8F91-4215-A6C6-92117E933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0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A85-CA3A-4595-8E81-9487B174C3E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BFBB-8F91-4215-A6C6-92117E933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53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A85-CA3A-4595-8E81-9487B174C3E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BFBB-8F91-4215-A6C6-92117E933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A85-CA3A-4595-8E81-9487B174C3E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BFBB-8F91-4215-A6C6-92117E933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7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A85-CA3A-4595-8E81-9487B174C3E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BFBB-8F91-4215-A6C6-92117E933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6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A85-CA3A-4595-8E81-9487B174C3E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BFBB-8F91-4215-A6C6-92117E933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10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A85-CA3A-4595-8E81-9487B174C3E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BFBB-8F91-4215-A6C6-92117E933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40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A85-CA3A-4595-8E81-9487B174C3E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BFBB-8F91-4215-A6C6-92117E933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70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22A85-CA3A-4595-8E81-9487B174C3E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ABFBB-8F91-4215-A6C6-92117E933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76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fif"/><Relationship Id="rId2" Type="http://schemas.openxmlformats.org/officeDocument/2006/relationships/hyperlink" Target="mailto:bcx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228600" y="-457200"/>
            <a:ext cx="12611100" cy="7581900"/>
          </a:xfrm>
          <a:prstGeom prst="rect">
            <a:avLst/>
          </a:prstGeom>
          <a:solidFill>
            <a:srgbClr val="14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590550"/>
            <a:ext cx="5248275" cy="38290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6750" y="798513"/>
            <a:ext cx="7905750" cy="2387600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solidFill>
                  <a:schemeClr val="bg1"/>
                </a:solidFill>
                <a:latin typeface="Franklin Gothic Book" panose="020B0503020102020204" pitchFamily="34" charset="0"/>
              </a:rPr>
              <a:t>Business </a:t>
            </a:r>
            <a:r>
              <a:rPr lang="en-US" sz="5400" b="1" dirty="0" err="1" smtClean="0">
                <a:solidFill>
                  <a:schemeClr val="bg1"/>
                </a:solidFill>
                <a:latin typeface="Franklin Gothic Book" panose="020B0503020102020204" pitchFamily="34" charset="0"/>
              </a:rPr>
              <a:t>Connexion</a:t>
            </a:r>
            <a:r>
              <a:rPr lang="en-US" sz="5400" b="1" dirty="0" smtClean="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en-US" sz="5400" b="1" dirty="0" err="1" smtClean="0">
                <a:solidFill>
                  <a:schemeClr val="bg1"/>
                </a:solidFill>
                <a:latin typeface="Franklin Gothic Book" panose="020B0503020102020204" pitchFamily="34" charset="0"/>
              </a:rPr>
              <a:t>mozambique</a:t>
            </a:r>
            <a:endParaRPr lang="en-US" sz="5400" b="1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7787" y="4116387"/>
            <a:ext cx="6543675" cy="1655762"/>
          </a:xfrm>
        </p:spPr>
        <p:txBody>
          <a:bodyPr>
            <a:normAutofit/>
          </a:bodyPr>
          <a:lstStyle/>
          <a:p>
            <a:r>
              <a:rPr lang="en-US" sz="3600" dirty="0" err="1" smtClean="0">
                <a:solidFill>
                  <a:srgbClr val="D90320"/>
                </a:solidFill>
                <a:latin typeface="Franklin Gothic Demi" panose="020B0703020102020204" pitchFamily="34" charset="0"/>
              </a:rPr>
              <a:t>Tecnologia</a:t>
            </a:r>
            <a:r>
              <a:rPr lang="en-US" sz="3600" dirty="0" smtClean="0">
                <a:solidFill>
                  <a:srgbClr val="D90320"/>
                </a:solidFill>
                <a:latin typeface="Franklin Gothic Demi" panose="020B0703020102020204" pitchFamily="34" charset="0"/>
              </a:rPr>
              <a:t> </a:t>
            </a:r>
            <a:r>
              <a:rPr lang="en-US" sz="3600" dirty="0" err="1" smtClean="0">
                <a:solidFill>
                  <a:srgbClr val="D90320"/>
                </a:solidFill>
                <a:latin typeface="Franklin Gothic Demi" panose="020B0703020102020204" pitchFamily="34" charset="0"/>
              </a:rPr>
              <a:t>que</a:t>
            </a:r>
            <a:r>
              <a:rPr lang="en-US" sz="3600" dirty="0" smtClean="0">
                <a:solidFill>
                  <a:srgbClr val="D90320"/>
                </a:solidFill>
                <a:latin typeface="Franklin Gothic Demi" panose="020B0703020102020204" pitchFamily="34" charset="0"/>
              </a:rPr>
              <a:t> </a:t>
            </a:r>
            <a:r>
              <a:rPr lang="en-US" sz="3600" dirty="0" err="1" smtClean="0">
                <a:solidFill>
                  <a:srgbClr val="D90320"/>
                </a:solidFill>
                <a:latin typeface="Franklin Gothic Demi" panose="020B0703020102020204" pitchFamily="34" charset="0"/>
              </a:rPr>
              <a:t>impulsiona</a:t>
            </a:r>
            <a:r>
              <a:rPr lang="en-US" sz="3600" dirty="0" smtClean="0">
                <a:solidFill>
                  <a:srgbClr val="D90320"/>
                </a:solidFill>
                <a:latin typeface="Franklin Gothic Demi" panose="020B0703020102020204" pitchFamily="34" charset="0"/>
              </a:rPr>
              <a:t> o </a:t>
            </a:r>
            <a:r>
              <a:rPr lang="en-US" sz="3600" dirty="0" err="1" smtClean="0">
                <a:solidFill>
                  <a:srgbClr val="D90320"/>
                </a:solidFill>
                <a:latin typeface="Franklin Gothic Demi" panose="020B0703020102020204" pitchFamily="34" charset="0"/>
              </a:rPr>
              <a:t>futuro</a:t>
            </a:r>
            <a:endParaRPr lang="en-US" sz="3600" dirty="0">
              <a:solidFill>
                <a:srgbClr val="D90320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5" name="WhatsApp Audio 2026-05-06 at 10.38.4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54994" y="448627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0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 advClick="0" advTm="4000">
        <p14:vortex dir="r"/>
      </p:transition>
    </mc:Choice>
    <mc:Fallback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BCX e Alibaba Lançam Plataforma de Processamento na Nuvem • Diário Económic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3975"/>
            <a:ext cx="12753474" cy="810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/>
          <p:cNvSpPr/>
          <p:nvPr/>
        </p:nvSpPr>
        <p:spPr>
          <a:xfrm>
            <a:off x="-3084526" y="-614023"/>
            <a:ext cx="7626992" cy="8618303"/>
          </a:xfrm>
          <a:prstGeom prst="ellipse">
            <a:avLst/>
          </a:prstGeom>
          <a:solidFill>
            <a:srgbClr val="BFD1E7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384186"/>
            <a:ext cx="365258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 smtClean="0">
                <a:solidFill>
                  <a:srgbClr val="1F2931"/>
                </a:solidFill>
              </a:rPr>
              <a:t>A BCX Mozambique </a:t>
            </a:r>
            <a:r>
              <a:rPr lang="pt-PT" sz="2800" b="1" dirty="0" smtClean="0">
                <a:solidFill>
                  <a:srgbClr val="1F2931"/>
                </a:solidFill>
              </a:rPr>
              <a:t>é uma empresa especializada em soluções </a:t>
            </a:r>
            <a:r>
              <a:rPr lang="pt-PT" sz="3200" b="1" dirty="0" smtClean="0">
                <a:solidFill>
                  <a:srgbClr val="1F2931"/>
                </a:solidFill>
              </a:rPr>
              <a:t>tecnológicas</a:t>
            </a:r>
            <a:r>
              <a:rPr lang="pt-PT" sz="2800" b="1" dirty="0" smtClean="0">
                <a:solidFill>
                  <a:srgbClr val="1F2931"/>
                </a:solidFill>
              </a:rPr>
              <a:t> e serviços de informática para empresas e instituições.</a:t>
            </a:r>
            <a:endParaRPr lang="en-US" sz="2800" b="1" dirty="0">
              <a:solidFill>
                <a:srgbClr val="1F293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2887579" y="-627854"/>
            <a:ext cx="192505" cy="367494"/>
          </a:xfrm>
          <a:prstGeom prst="rect">
            <a:avLst/>
          </a:prstGeom>
          <a:solidFill>
            <a:srgbClr val="D2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7F6F6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2438402" y="-614023"/>
            <a:ext cx="192505" cy="367494"/>
          </a:xfrm>
          <a:prstGeom prst="rect">
            <a:avLst/>
          </a:prstGeom>
          <a:solidFill>
            <a:srgbClr val="D0DE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-2085478" y="-614023"/>
            <a:ext cx="192505" cy="367494"/>
          </a:xfrm>
          <a:prstGeom prst="rect">
            <a:avLst/>
          </a:prstGeom>
          <a:solidFill>
            <a:srgbClr val="A39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9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Click="0" advTm="10000">
        <p14:reveal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BCX lança inovações tecnológicas em Moçambique - O País - A verdade como  notíc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-136527"/>
            <a:ext cx="12483039" cy="748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/>
          <p:cNvSpPr/>
          <p:nvPr/>
        </p:nvSpPr>
        <p:spPr>
          <a:xfrm>
            <a:off x="-3353084" y="-982665"/>
            <a:ext cx="8724900" cy="9182100"/>
          </a:xfrm>
          <a:prstGeom prst="ellipse">
            <a:avLst/>
          </a:prstGeom>
          <a:solidFill>
            <a:srgbClr val="1068D0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15900" y="607565"/>
            <a:ext cx="47978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3200" b="1" dirty="0" smtClean="0">
                <a:solidFill>
                  <a:schemeClr val="bg1"/>
                </a:solidFill>
              </a:rPr>
              <a:t>A BCX oferece serviços de: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200" b="1" dirty="0" smtClean="0">
                <a:solidFill>
                  <a:schemeClr val="bg1"/>
                </a:solidFill>
              </a:rPr>
              <a:t>Redes e conectividade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200" b="1" dirty="0" err="1" smtClean="0">
                <a:solidFill>
                  <a:schemeClr val="bg1"/>
                </a:solidFill>
              </a:rPr>
              <a:t>Cloud</a:t>
            </a:r>
            <a:r>
              <a:rPr lang="pt-PT" sz="3200" b="1" dirty="0" smtClean="0">
                <a:solidFill>
                  <a:schemeClr val="bg1"/>
                </a:solidFill>
              </a:rPr>
              <a:t> </a:t>
            </a:r>
            <a:r>
              <a:rPr lang="pt-PT" sz="3200" b="1" dirty="0" err="1" smtClean="0">
                <a:solidFill>
                  <a:schemeClr val="bg1"/>
                </a:solidFill>
              </a:rPr>
              <a:t>computing</a:t>
            </a:r>
            <a:endParaRPr lang="pt-PT" sz="3200" b="1" dirty="0" smtClean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200" b="1" dirty="0" err="1" smtClean="0">
                <a:solidFill>
                  <a:schemeClr val="bg1"/>
                </a:solidFill>
              </a:rPr>
              <a:t>Cibersegurança</a:t>
            </a:r>
            <a:r>
              <a:rPr lang="pt-PT" sz="3200" b="1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200" b="1" dirty="0" smtClean="0">
                <a:solidFill>
                  <a:schemeClr val="bg1"/>
                </a:solidFill>
              </a:rPr>
              <a:t>Desenvolvimento de sistemas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200" b="1" dirty="0" smtClean="0">
                <a:solidFill>
                  <a:schemeClr val="bg1"/>
                </a:solidFill>
              </a:rPr>
              <a:t>Suporte técnico</a:t>
            </a:r>
          </a:p>
        </p:txBody>
      </p:sp>
      <p:sp>
        <p:nvSpPr>
          <p:cNvPr id="3" name="AutoShape 6" descr="BCX lança inovações tecnológicas em Moçambique - O País - A verdade como  notícia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4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 advTm="10000">
        <p:wipe/>
      </p:transition>
    </mc:Choice>
    <mc:Fallback xmlns="">
      <p:transition spd="slow" advClick="0" advTm="1000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REDES NA INDÚSTRIA 4.0 - Infraestrutura de Redes e Conectividade em  Automação Industri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547" y="-803276"/>
            <a:ext cx="13114806" cy="912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384175"/>
            <a:ext cx="10515600" cy="1325563"/>
          </a:xfrm>
        </p:spPr>
        <p:txBody>
          <a:bodyPr/>
          <a:lstStyle/>
          <a:p>
            <a:r>
              <a:rPr lang="en-US" dirty="0" err="1" smtClean="0">
                <a:latin typeface="Bahnschrift SemiCondensed" panose="020B0502040204020203" pitchFamily="34" charset="0"/>
              </a:rPr>
              <a:t>Redes</a:t>
            </a:r>
            <a:r>
              <a:rPr lang="en-US" dirty="0" smtClean="0">
                <a:latin typeface="Bahnschrift SemiCondensed" panose="020B0502040204020203" pitchFamily="34" charset="0"/>
              </a:rPr>
              <a:t> e </a:t>
            </a:r>
            <a:r>
              <a:rPr lang="en-US" dirty="0" err="1" smtClean="0">
                <a:latin typeface="Bahnschrift SemiCondensed" panose="020B0502040204020203" pitchFamily="34" charset="0"/>
              </a:rPr>
              <a:t>conectividade</a:t>
            </a:r>
            <a:r>
              <a:rPr lang="en-US" dirty="0" smtClean="0">
                <a:latin typeface="Bahnschrift SemiCondensed" panose="020B0502040204020203" pitchFamily="34" charset="0"/>
              </a:rPr>
              <a:t> </a:t>
            </a:r>
            <a:endParaRPr lang="en-US" dirty="0">
              <a:latin typeface="Bahnschrift Semi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" y="2308225"/>
            <a:ext cx="4798325" cy="4351338"/>
          </a:xfrm>
        </p:spPr>
        <p:txBody>
          <a:bodyPr/>
          <a:lstStyle/>
          <a:p>
            <a:r>
              <a:rPr lang="pt-PT" dirty="0" smtClean="0">
                <a:latin typeface="Bahnschrift SemiCondensed" panose="020B0502040204020203" pitchFamily="34" charset="0"/>
              </a:rPr>
              <a:t>A BCX fornece soluções de conectividade e infraestrutura de redes que permitem comunicação rápida, estável e segura dentro das empresas fornecendo serviços de instalação de redes LAN e WAN, e configuração de </a:t>
            </a:r>
            <a:r>
              <a:rPr lang="pt-PT" dirty="0" err="1" smtClean="0">
                <a:latin typeface="Bahnschrift SemiCondensed" panose="020B0502040204020203" pitchFamily="34" charset="0"/>
              </a:rPr>
              <a:t>wi-fi</a:t>
            </a:r>
            <a:r>
              <a:rPr lang="pt-PT" dirty="0" smtClean="0">
                <a:latin typeface="Bahnschrift SemiCondensed" panose="020B0502040204020203" pitchFamily="34" charset="0"/>
              </a:rPr>
              <a:t> empresarial. </a:t>
            </a:r>
            <a:endParaRPr lang="pt-PT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14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 advClick="0" advTm="15000">
        <p:circle/>
      </p:transition>
    </mc:Choice>
    <mc:Fallback xmlns="">
      <p:transition spd="slow" advClick="0" advTm="15000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-419100" y="-933450"/>
            <a:ext cx="13944600" cy="9277350"/>
          </a:xfrm>
          <a:prstGeom prst="rect">
            <a:avLst/>
          </a:prstGeom>
          <a:solidFill>
            <a:srgbClr val="09121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516" y="1397755"/>
            <a:ext cx="4985084" cy="5460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 smtClean="0">
                <a:solidFill>
                  <a:schemeClr val="accent2"/>
                </a:solidFill>
              </a:rPr>
              <a:t>A ALP </a:t>
            </a:r>
            <a:r>
              <a:rPr lang="pt-PT" dirty="0" err="1" smtClean="0">
                <a:solidFill>
                  <a:schemeClr val="accent2"/>
                </a:solidFill>
              </a:rPr>
              <a:t>Cloud</a:t>
            </a:r>
            <a:r>
              <a:rPr lang="pt-PT" dirty="0" smtClean="0">
                <a:solidFill>
                  <a:schemeClr val="accent2"/>
                </a:solidFill>
              </a:rPr>
              <a:t> é uma solução de </a:t>
            </a:r>
            <a:r>
              <a:rPr lang="pt-PT" dirty="0" err="1" smtClean="0">
                <a:solidFill>
                  <a:schemeClr val="accent2"/>
                </a:solidFill>
              </a:rPr>
              <a:t>cloud</a:t>
            </a:r>
            <a:r>
              <a:rPr lang="pt-PT" dirty="0" smtClean="0">
                <a:solidFill>
                  <a:schemeClr val="accent2"/>
                </a:solidFill>
              </a:rPr>
              <a:t> </a:t>
            </a:r>
            <a:r>
              <a:rPr lang="pt-PT" dirty="0" err="1" smtClean="0">
                <a:solidFill>
                  <a:schemeClr val="accent2"/>
                </a:solidFill>
              </a:rPr>
              <a:t>computing</a:t>
            </a:r>
            <a:r>
              <a:rPr lang="pt-PT" dirty="0" smtClean="0">
                <a:solidFill>
                  <a:schemeClr val="accent2"/>
                </a:solidFill>
              </a:rPr>
              <a:t> que permite as empresas armazenar, gerir e aceder aos seus dados e aplicações através da internet com segurança, flexibilidade e alta disponibilidade.</a:t>
            </a:r>
          </a:p>
          <a:p>
            <a:pPr marL="0" indent="0">
              <a:buNone/>
            </a:pPr>
            <a:r>
              <a:rPr lang="pt-PT" dirty="0" smtClean="0">
                <a:solidFill>
                  <a:schemeClr val="accent2"/>
                </a:solidFill>
              </a:rPr>
              <a:t>Ela oferece serviços de: </a:t>
            </a:r>
          </a:p>
          <a:p>
            <a:r>
              <a:rPr lang="pt-PT" dirty="0" smtClean="0">
                <a:solidFill>
                  <a:schemeClr val="accent2"/>
                </a:solidFill>
              </a:rPr>
              <a:t>Armazenamento em nuvem, servidores virtuais, backup e recuperação de dados e hospedagem de aplicações </a:t>
            </a:r>
            <a:endParaRPr lang="pt-PT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16" y="625642"/>
            <a:ext cx="4961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ALP Cloud/Cloud computing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AutoShape 2" descr="Moçambique | BCX"/>
          <p:cNvSpPr>
            <a:spLocks noChangeAspect="1" noChangeArrowheads="1"/>
          </p:cNvSpPr>
          <p:nvPr/>
        </p:nvSpPr>
        <p:spPr bwMode="auto">
          <a:xfrm>
            <a:off x="196516" y="-15240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Moçambique | BC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62" name="Picture 14" descr="Mozambique | BC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577" y="918029"/>
            <a:ext cx="6023023" cy="491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93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 advTm="25000">
        <p:split orient="vert"/>
      </p:transition>
    </mc:Choice>
    <mc:Fallback xmlns="">
      <p:transition spd="slow" advTm="25000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2" name="Picture 20" descr="O papel da cibersegurança na transformação digital | Claran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6689" y="0"/>
            <a:ext cx="14633795" cy="707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7338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00F1F2"/>
                </a:solidFill>
              </a:rPr>
              <a:t>Cibersegurança</a:t>
            </a:r>
            <a:r>
              <a:rPr lang="en-US" dirty="0" smtClean="0">
                <a:solidFill>
                  <a:srgbClr val="00F1F2"/>
                </a:solidFill>
              </a:rPr>
              <a:t> </a:t>
            </a:r>
            <a:endParaRPr lang="en-US" dirty="0">
              <a:solidFill>
                <a:srgbClr val="00F1F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1690687"/>
            <a:ext cx="385663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400" dirty="0" smtClean="0">
                <a:solidFill>
                  <a:srgbClr val="FF668A"/>
                </a:solidFill>
              </a:rPr>
              <a:t>A BCX implementa soluções de </a:t>
            </a:r>
            <a:r>
              <a:rPr lang="pt-PT" sz="2400" dirty="0" err="1" smtClean="0">
                <a:solidFill>
                  <a:srgbClr val="FF668A"/>
                </a:solidFill>
              </a:rPr>
              <a:t>cibersegurança</a:t>
            </a:r>
            <a:r>
              <a:rPr lang="pt-PT" sz="2400" dirty="0" smtClean="0">
                <a:solidFill>
                  <a:srgbClr val="FF668A"/>
                </a:solidFill>
              </a:rPr>
              <a:t> para proteger sistemas, redes e informações empresariais contra ataques e acessos não autorizados, implementando </a:t>
            </a:r>
            <a:r>
              <a:rPr lang="pt-PT" sz="2400" dirty="0" err="1" smtClean="0">
                <a:solidFill>
                  <a:srgbClr val="FF668A"/>
                </a:solidFill>
              </a:rPr>
              <a:t>firewalls</a:t>
            </a:r>
            <a:r>
              <a:rPr lang="pt-PT" sz="2400" dirty="0" smtClean="0">
                <a:solidFill>
                  <a:srgbClr val="FF668A"/>
                </a:solidFill>
              </a:rPr>
              <a:t> empresariais, antivírus corporativo e proteção dados. </a:t>
            </a:r>
            <a:endParaRPr lang="pt-PT" sz="2400" dirty="0">
              <a:solidFill>
                <a:srgbClr val="FF66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92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9000">
        <p:randomBar dir="vert"/>
      </p:transition>
    </mc:Choice>
    <mc:Fallback xmlns="">
      <p:transition spd="slow" advClick="0" advTm="19000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Graduação em Desenvolvimento de Software Multiplataforma: Entenda tudo  sobre o curso e a profissão - UniCario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224" y="-122829"/>
            <a:ext cx="12351224" cy="698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18866" y="444732"/>
            <a:ext cx="4031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dirty="0" smtClean="0">
                <a:solidFill>
                  <a:schemeClr val="bg1"/>
                </a:solidFill>
              </a:rPr>
              <a:t>Desenvolvimento de softwares</a:t>
            </a:r>
            <a:endParaRPr lang="pt-PT" sz="2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8865" y="1241947"/>
            <a:ext cx="382137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400" dirty="0" smtClean="0">
                <a:solidFill>
                  <a:schemeClr val="bg1"/>
                </a:solidFill>
              </a:rPr>
              <a:t>A BCX desenvolve sistemas e aplicações adaptadas as necessidades especificas das empresas para melhorar produtividade e gestão. Sejam elas sistemas de gestão empresarial, aplicações web e automatização de processos.</a:t>
            </a:r>
            <a:endParaRPr lang="pt-PT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908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12000">
        <p:fade/>
      </p:transition>
    </mc:Choice>
    <mc:Fallback xmlns="">
      <p:transition spd="slow" advTm="1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eet Our Expert Team | 24/7 Reliable Website Suppo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25908"/>
            <a:ext cx="12270748" cy="884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/>
          <p:cNvSpPr/>
          <p:nvPr/>
        </p:nvSpPr>
        <p:spPr>
          <a:xfrm>
            <a:off x="-2492991" y="-457200"/>
            <a:ext cx="7810500" cy="8229600"/>
          </a:xfrm>
          <a:prstGeom prst="ellipse">
            <a:avLst/>
          </a:prstGeom>
          <a:solidFill>
            <a:srgbClr val="A1A7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19117" y="832513"/>
            <a:ext cx="2895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200" dirty="0" smtClean="0"/>
              <a:t>Suporte técnico </a:t>
            </a:r>
            <a:endParaRPr lang="pt-PT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119117" y="1760561"/>
            <a:ext cx="33437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 smtClean="0"/>
              <a:t>A BCX oferece manutenção de computadores, assistência remota, atualização de software, diagnostico técnico e gestão de equipamentos as empresas para garantir o funcionamento continuo dos equipamentos e sistemas tecnológicos </a:t>
            </a: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1179757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000">
        <p14:reveal/>
      </p:transition>
    </mc:Choice>
    <mc:Fallback xmlns="">
      <p:transition spd="slow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sultoria em TI: Como a Avivatec pode ajudá-lo em seu planejamen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9550" y="-228600"/>
            <a:ext cx="12668250" cy="752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91035" y="381260"/>
            <a:ext cx="42450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4800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Consultoria</a:t>
            </a:r>
            <a:r>
              <a:rPr lang="pt-PT" sz="4400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 em TI</a:t>
            </a:r>
            <a:endParaRPr lang="pt-PT" sz="4400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1035" y="1398611"/>
            <a:ext cx="68241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A BCX presta consultoria tecnológica para ajudar empresas a implementar soluções modernas e melhorar os seus processos oferecendo planeamento tecnológico, modernização de infraestruturas, estratégias de TI entre outras.</a:t>
            </a:r>
            <a:endParaRPr lang="pt-PT" sz="3200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52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 advTm="12000">
        <p:wipe/>
      </p:transition>
    </mc:Choice>
    <mc:Fallback xmlns="">
      <p:transition spd="slow" advTm="1200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228600" y="-571500"/>
            <a:ext cx="14268450" cy="8001000"/>
          </a:xfrm>
          <a:prstGeom prst="rect">
            <a:avLst/>
          </a:prstGeom>
          <a:solidFill>
            <a:srgbClr val="14131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68740" y="3725838"/>
            <a:ext cx="553497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dirty="0" smtClean="0">
                <a:solidFill>
                  <a:schemeClr val="bg1"/>
                </a:solidFill>
              </a:rPr>
              <a:t>Para mais informações contacte-nos:</a:t>
            </a:r>
          </a:p>
          <a:p>
            <a:endParaRPr lang="pt-PT" sz="2800" dirty="0">
              <a:solidFill>
                <a:schemeClr val="bg1"/>
              </a:solidFill>
            </a:endParaRPr>
          </a:p>
          <a:p>
            <a:r>
              <a:rPr lang="pt-PT" sz="2800" dirty="0" smtClean="0">
                <a:solidFill>
                  <a:schemeClr val="bg1"/>
                </a:solidFill>
              </a:rPr>
              <a:t>Contacto: 845674536</a:t>
            </a:r>
          </a:p>
          <a:p>
            <a:r>
              <a:rPr lang="pt-PT" sz="2800" dirty="0" smtClean="0">
                <a:solidFill>
                  <a:schemeClr val="bg1"/>
                </a:solidFill>
              </a:rPr>
              <a:t>Email: </a:t>
            </a:r>
            <a:r>
              <a:rPr lang="pt-PT" sz="2800" dirty="0" smtClean="0">
                <a:solidFill>
                  <a:schemeClr val="bg1"/>
                </a:solidFill>
                <a:hlinkClick r:id="rId2"/>
              </a:rPr>
              <a:t>bcx@gmail.com</a:t>
            </a:r>
            <a:endParaRPr lang="pt-PT" sz="2800" dirty="0" smtClean="0">
              <a:solidFill>
                <a:schemeClr val="bg1"/>
              </a:solidFill>
            </a:endParaRPr>
          </a:p>
          <a:p>
            <a:r>
              <a:rPr lang="pt-PT" sz="2800" dirty="0" smtClean="0">
                <a:solidFill>
                  <a:schemeClr val="bg1"/>
                </a:solidFill>
              </a:rPr>
              <a:t>Website: www.bcx.co.mz</a:t>
            </a:r>
            <a:endParaRPr lang="pt-PT" sz="28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40" y="-176592"/>
            <a:ext cx="3160310" cy="34051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62450" y="710394"/>
            <a:ext cx="610936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dirty="0" smtClean="0">
                <a:solidFill>
                  <a:srgbClr val="D6071C"/>
                </a:solidFill>
                <a:latin typeface="Bahnschrift SemiCondensed" panose="020B0502040204020203" pitchFamily="34" charset="0"/>
              </a:rPr>
              <a:t>Business </a:t>
            </a:r>
            <a:r>
              <a:rPr lang="pt-PT" sz="3600" dirty="0" err="1" smtClean="0">
                <a:solidFill>
                  <a:srgbClr val="D6071C"/>
                </a:solidFill>
                <a:latin typeface="Bahnschrift SemiCondensed" panose="020B0502040204020203" pitchFamily="34" charset="0"/>
              </a:rPr>
              <a:t>connexion</a:t>
            </a:r>
            <a:r>
              <a:rPr lang="pt-PT" sz="3600" dirty="0" smtClean="0">
                <a:solidFill>
                  <a:srgbClr val="D6071C"/>
                </a:solidFill>
                <a:latin typeface="Bahnschrift SemiCondensed" panose="020B0502040204020203" pitchFamily="34" charset="0"/>
              </a:rPr>
              <a:t> Mozambique</a:t>
            </a:r>
          </a:p>
          <a:p>
            <a:endParaRPr lang="pt-PT" sz="3600" dirty="0" smtClean="0">
              <a:solidFill>
                <a:srgbClr val="D6071C"/>
              </a:solidFill>
              <a:latin typeface="Bahnschrift SemiCondensed" panose="020B0502040204020203" pitchFamily="34" charset="0"/>
            </a:endParaRPr>
          </a:p>
          <a:p>
            <a:r>
              <a:rPr lang="pt-PT" sz="2800" dirty="0" smtClean="0">
                <a:solidFill>
                  <a:srgbClr val="D6071C"/>
                </a:solidFill>
                <a:latin typeface="Bahnschrift SemiCondensed" panose="020B0502040204020203" pitchFamily="34" charset="0"/>
              </a:rPr>
              <a:t>Conectando empresas ao futuro</a:t>
            </a:r>
            <a:endParaRPr lang="pt-PT" sz="2800" dirty="0">
              <a:solidFill>
                <a:srgbClr val="D6071C"/>
              </a:solidFill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18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9000">
        <p:fade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298</Words>
  <Application>Microsoft Office PowerPoint</Application>
  <PresentationFormat>Widescreen</PresentationFormat>
  <Paragraphs>31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Bahnschrift SemiCondensed</vt:lpstr>
      <vt:lpstr>Calibri</vt:lpstr>
      <vt:lpstr>Calibri Light</vt:lpstr>
      <vt:lpstr>Franklin Gothic Book</vt:lpstr>
      <vt:lpstr>Franklin Gothic Demi</vt:lpstr>
      <vt:lpstr>Office Theme</vt:lpstr>
      <vt:lpstr>Business Connexion mozambique</vt:lpstr>
      <vt:lpstr>PowerPoint Presentation</vt:lpstr>
      <vt:lpstr>PowerPoint Presentation</vt:lpstr>
      <vt:lpstr>Redes e conectividade </vt:lpstr>
      <vt:lpstr>PowerPoint Presentation</vt:lpstr>
      <vt:lpstr>Cibersegurança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Connexion mozambique</dc:title>
  <dc:creator>abilio jr</dc:creator>
  <cp:lastModifiedBy>abilio jr</cp:lastModifiedBy>
  <cp:revision>28</cp:revision>
  <dcterms:created xsi:type="dcterms:W3CDTF">2026-05-04T12:41:05Z</dcterms:created>
  <dcterms:modified xsi:type="dcterms:W3CDTF">2026-05-17T21:46:36Z</dcterms:modified>
</cp:coreProperties>
</file>